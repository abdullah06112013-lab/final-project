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6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8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9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1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12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13.xml" ContentType="application/vnd.openxmlformats-officedocument.presentationml.notesSlide+xml"/>
  <Override PartName="/ppt/ink/ink36.xml" ContentType="application/inkml+xml"/>
  <Override PartName="/ppt/notesSlides/notesSlide14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Archivo Black" panose="020B0604020202020204" charset="0"/>
      <p:regular r:id="rId17"/>
    </p:embeddedFont>
    <p:embeddedFont>
      <p:font typeface="Archivo Bold" panose="020B0604020202020204" charset="0"/>
      <p:regular r:id="rId18"/>
    </p:embeddedFont>
    <p:embeddedFont>
      <p:font typeface="IBM Plex Sans" panose="020B0503050203000203" pitchFamily="34" charset="0"/>
      <p:regular r:id="rId19"/>
      <p:bold r:id="rId20"/>
    </p:embeddedFont>
    <p:embeddedFont>
      <p:font typeface="IBM Plex Sans Bold" panose="020B0803050203000203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5:27.4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1946 434 24575,'-981'0'0,"1196"-1"0,269-36 0,-118 0 0,-363 34 0,-12-2 0,-22-5 0,-734-83 0,544 74 0,-339-34 0,470 44 0,64 4 0,31 1 0,49-1 0,195-7 0,346-22 0,-520 28 0,317-35 0,-370 35 0,-40 2 0,-510 0 0,280 8 0,-247-3 0,1400-1 0,-1297 35 0,290-22 0,-171 25 0,-113 12 0,320-43 0,47-3 0,43-3 0,900-6 0,-1973 5 0,1635-14 0,-432 2 0,273-56 0,-383 55 0,-44 12 0,0 1 0,0 0 0,0 0 0,-1 0 0,1 0 0,0 0 0,0 0 0,0 0 0,-1 0 0,1 0 0,0 0 0,0-1 0,0 1 0,0 0 0,0 0 0,-1 0 0,1 0 0,0 0 0,0-1 0,0 1 0,0 0 0,0 0 0,0 0 0,0-1 0,-1 1 0,1 0 0,0 0 0,0 0 0,0-1 0,0 1 0,0 0 0,0 0 0,0 0 0,0-1 0,0 1 0,0 0 0,0 0 0,0 0 0,0-1 0,0 1 0,1 0 0,-1 0 0,0 0 0,0-1 0,0 1 0,0 0 0,0 0 0,0 0 0,0 0 0,1 0 0,-1-1 0,0 1 0,0 0 0,-34-5 0,-2 1 0,1 1 0,-65 5 0,20 0 0,-435 2 0,1179-3 0,-1410 32 0,695-26 0,82-2 0,33-1 0,893-6 0,-1093 2 0,-138-18 0,-95-17 0,331 29 0,30 0 0,19 0 0,18-3 0,66-7 0,180-9 0,103 24 0,-175 4 0,28-6 0,243 6 0,-294 15-1365,-145-15-5461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5:27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 24575,'0'-4'0,"0"-6"0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5:53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2955 193 24575,'-11'-1'0,"0"-1"0,1 0 0,-1 0 0,1-1 0,0-1 0,0 0 0,0 0 0,0-1 0,1 0 0,-17-12 0,12 8 0,0 0 0,-1 1 0,-30-11 0,-2 8 0,-1 2 0,-95-7 0,20 4 0,-169-18 0,-295 9 0,-821 23 0,1403-3 0,0 2 0,0-1 0,-1 1 0,1 0 0,0 0 0,0 0 0,0 0 0,0 1 0,0 0 0,0 0 0,1 1 0,-6 3 0,8-5 0,0 1 0,0-1 0,1 1 0,-1 0 0,1-1 0,0 1 0,-1 0 0,1 0 0,0 0 0,0 0 0,0 0 0,0 1 0,0-1 0,1 0 0,-1 0 0,1 1 0,-1-1 0,1 0 0,0 0 0,0 1 0,0-1 0,0 0 0,1 1 0,-1-1 0,0 0 0,1 0 0,0 1 0,-1-1 0,1 0 0,0 0 0,1 3 0,3 4 0,0-1 0,0 1 0,1-1 0,0 0 0,1 0 0,0 0 0,0-1 0,0 0 0,1-1 0,0 1 0,0-2 0,1 1 0,-1-1 0,1 0 0,18 6 0,10 3 0,1-3 0,64 13 0,-100-24 0,34 5 0,53 2 0,29 4 0,-53-3 0,2-3 0,115-6 0,-60-2 0,1818 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5:58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 0 24449,'-2611'0'0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03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22 24575,'1'7'0,"0"-1"0,0 0 0,0 0 0,1 0 0,0 0 0,0 0 0,1-1 0,0 1 0,0-1 0,0 1 0,1-1 0,-1 0 0,1 0 0,0-1 0,1 1 0,7 6 0,1 0 0,1 0 0,0-1 0,0-1 0,29 14 0,95 27 0,-119-43 0,0-1 0,0-1 0,0-1 0,1 0 0,34 1 0,105-7 0,-60-1 0,1161 3 0,-1230-1 0,51-10 0,23-1 0,78 13 0,62-3 0,-228 2 0,-1-2 0,1 0 0,-1-1 0,1 0 0,-1-1 0,16-7 0,-25 8 0,0 0 0,0 0 0,0-1 0,0 0 0,-1 0 0,0 0 0,0-1 0,0 0 0,0 0 0,-1 0 0,1 0 0,-1-1 0,-1 0 0,1 0 0,-1 0 0,3-7 0,-1-1-195,0-1 0,-1 0 0,-1 0 0,0-1 0,-1 1 0,0-20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04.5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08.2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1 330 24575,'0'-4'0,"0"-6"0,8-9 0,7-5 0,5-3 0,3-1 0,2 1 0,0 4 0,1 2 0,3 1 0,1 0 0,0-5 0,-1 1 0,-2 2 0,-1 3 0,-5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17.6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24120,'2300'1'0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24.2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5 151 24575,'-2'60'0,"0"-35"0,2-1 0,0 1 0,1-1 0,2 1 0,0-1 0,9 31 0,-10-52 0,-1 0 0,0 0 0,1 0 0,0 0 0,-1 0 0,1-1 0,0 1 0,0 0 0,1-1 0,-1 0 0,1 1 0,-1-1 0,1 0 0,-1-1 0,1 1 0,4 2 0,0-1 0,-1-1 0,1 0 0,-1 0 0,1-1 0,0 1 0,0-2 0,10 2 0,7-3 0,1-1 0,0-1 0,30-7 0,-53 10 0,66-16 0,57-9 0,-57 15 0,-30 4 0,47-2 0,-67 6 0,-1 0 0,0-1 0,-1-1 0,1-1 0,24-10 0,35-10 0,-10 10 0,-13 0 0,1 4 0,0 1 0,97-4 0,29 17 0,206-5 0,-356-1 0,0-1 0,41-13 0,-45 10 0,0 1 0,0 2 0,49-4 0,-47 9 0,-14 0 0,0-1 0,1 0 0,-1-1 0,0-1 0,1 0 0,-1-1 0,23-8 0,-14 3 0,0 0 0,1 1 0,0 2 0,48-6 0,-70 11 0,-1 0 0,1 0 0,0 0 0,0 0 0,0 0 0,0 0 0,0 1 0,0-1 0,0 1 0,0-1 0,-1 1 0,1 0 0,0 0 0,0 0 0,-1 0 0,1 0 0,-1 0 0,1 0 0,-1 0 0,1 1 0,-1-1 0,0 0 0,1 1 0,-1 0 0,0-1 0,0 1 0,0-1 0,0 1 0,-1 0 0,1 0 0,0 0 0,-1-1 0,1 1 0,-1 0 0,1 0 0,-1 0 0,0 0 0,0 3 0,0 0 0,0-1 0,0 1 0,-1-1 0,1 1 0,-1-1 0,0 1 0,0-1 0,-1 0 0,1 0 0,-1 1 0,0-1 0,0 0 0,-1 0 0,1-1 0,-1 1 0,-2 3 0,-1-3 0,1 0 0,0 0 0,-1-1 0,0 1 0,0-1 0,0-1 0,0 1 0,0-1 0,-1 0 0,1-1 0,-9 2 0,-81 5 0,23-3 0,42-1 0,0-2 0,0-1 0,0-2 0,0-1 0,-32-6 0,6 1 0,16 4 0,24 3 0,-1-2 0,1 0 0,-30-8 0,42 8 0,-1 1 0,1-2 0,0 1 0,0 0 0,0-1 0,1 0 0,-1 0 0,1-1 0,-1 1 0,1-1 0,0 0 0,0 0 0,1-1 0,-1 1 0,1-1 0,-3-5 0,-60-132 0,32 66 0,23 50-1365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28.4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24575,'2423'0'-1365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30.3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2519 0 24575,'1'52'0,"0"-27"0,0 0 0,-6 38 0,5-60 0,-1 0 0,0 0 0,0 0 0,0-1 0,-1 1 0,1 0 0,0-1 0,-1 1 0,0-1 0,0 1 0,0-1 0,0 0 0,0 0 0,0 0 0,0 0 0,-1 0 0,1 0 0,-1-1 0,1 1 0,-1-1 0,0 0 0,0 0 0,1 0 0,-1 0 0,0 0 0,0 0 0,0-1 0,-4 1 0,-11 1 0,0-1 0,0-1 0,-30-3 0,19 1 0,-884-3 0,494 8 0,219-1 0,-211-5 0,295-6 0,-121-25 0,211 27-1365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37.2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23892,'2779'0'0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39.3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2475 0 24575,'0'19'0,"1"0"0,-2 1 0,0-1 0,-1 0 0,-6 27 0,7-42 0,0 0 0,0 1 0,-1-1 0,1-1 0,-1 1 0,0 0 0,0 0 0,-1-1 0,1 1 0,-1-1 0,1 0 0,-1 0 0,0 0 0,-1 0 0,1 0 0,0-1 0,-1 1 0,1-1 0,-1 0 0,0 0 0,0 0 0,0 0 0,0-1 0,0 0 0,-7 2 0,-22 0 0,-1-1 0,1-1 0,-44-6 0,-18 1 0,-2016 4-1365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44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23910,'2590'0'0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47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2494 0 24575,'1'71'0,"-3"75"0,2-142 0,-1 0 0,0 1 0,-1-1 0,1 1 0,-1-1 0,1 0 0,-1 0 0,0 0 0,-1 0 0,1 0 0,-1 0 0,0-1 0,0 1 0,0-1 0,0 0 0,0 0 0,-1 0 0,0 0 0,1-1 0,-1 1 0,0-1 0,0 0 0,0 0 0,-1 0 0,1-1 0,0 1 0,-1-1 0,-8 1 0,-12 2 0,-1-1 0,1-1 0,-50-3 0,55 0 0,-184 1 0,-69-4 0,152-7 0,-47-2 0,-1294 14-1365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53.5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 24380,'2444'-24'0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55.0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24575,'0'9'0,"0"6"0,0 8 0,0 6 0,0 1 0,0 3 0,0 1 0,0-1 0,0-3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56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3154 1 24575,'-3153'0'-1365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6:59.6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24575,'3212'0'0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03.9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 24575,'-1'115'0,"3"117"0,-2-228 0,1 0 0,0 0 0,0 0 0,0 0 0,0-1 0,1 1 0,-1-1 0,1 1 0,0-1 0,0 1 0,0-1 0,1 0 0,-1 0 0,1 0 0,0 0 0,0-1 0,0 1 0,0-1 0,0 1 0,0-1 0,1 0 0,-1 0 0,1-1 0,-1 1 0,7 1 0,9 3 0,0-1 0,1-1 0,36 3 0,-36-5 0,-14-1 0,-1-1 0,0 0 0,0 0 0,0 0 0,0-1 0,1 1 0,-1-1 0,0 0 0,0-1 0,0 1 0,8-5 0,-12 5 0,1 0 0,-1 0 0,1 0 0,-1 0 0,0-1 0,1 1 0,-1 0 0,0-1 0,0 1 0,0-1 0,0 1 0,0-1 0,0 0 0,-1 1 0,1-1 0,0 0 0,-1 0 0,1 1 0,-1-1 0,0 0 0,0 0 0,0 0 0,0 0 0,0 1 0,0-1 0,0 0 0,0 0 0,-1 0 0,1 1 0,-1-1 0,1 0 0,-1 0 0,0 1 0,0-1 0,1 0 0,-3-2 0,-28-45-1365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05.3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3008 25 24575,'-1013'0'0,"814"-12"0,4-1 0,55 14 0,-166 22 0,-218 80 0,493-96 0,-25 5 0,-215 44 0,213-47 0,-1-3 0,-96-1 0,254-7 0,0-5 0,0-4 0,146-35 0,-182 35-1365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07.9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263 910 24575,'-3'-2'0,"1"1"0,0-1 0,0 0 0,0 1 0,0-1 0,0 0 0,1 0 0,-1 0 0,1 0 0,-1 0 0,-1-4 0,-6-7 0,-10-5 0,0 2 0,-1 0 0,0 1 0,-28-14 0,-8-7 0,52 33 0,0 0 0,0-1 0,1 1 0,-1-1 0,1 0 0,0 0 0,0 0 0,0-1 0,1 1 0,-1-1 0,1 1 0,0-1 0,0 0 0,1 0 0,0 0 0,-1 0 0,2 0 0,-1 0 0,0 0 0,1 0 0,0 0 0,0-1 0,1 1 0,0 0 0,-1 0 0,2 0 0,1-5 0,4-17 0,2 2 0,1-1 0,24-43 0,-25 52 0,16-31 0,-3 0 0,28-88 0,-41 105 0,18-41 0,-23 62 0,1 1 0,0 0 0,0 0 0,1 1 0,0 0 0,0 0 0,1 0 0,13-11 0,-17 17 0,-1 0 0,1 0 0,0 0 0,-1 0 0,1 0 0,0 1 0,0 0 0,0-1 0,0 1 0,0 0 0,0 0 0,0 1 0,1-1 0,-1 1 0,0-1 0,0 1 0,1 0 0,-1 0 0,0 1 0,0-1 0,0 1 0,1-1 0,-1 1 0,0 0 0,0 0 0,0 1 0,0-1 0,0 1 0,-1-1 0,6 5 0,-2-2 0,-1 1 0,0 0 0,-1 0 0,1 1 0,-1-1 0,0 1 0,-1 0 0,1 0 0,-1 0 0,0 1 0,0-1 0,-1 1 0,2 8 0,-2-3 0,0 0 0,-1 0 0,0 0 0,-1-1 0,-1 1 0,0 0 0,0 0 0,-1 0 0,-1-1 0,0 1 0,0-1 0,-8 16 0,-7 10 0,-1 0 0,-31 42 0,-12 23 0,35-50 0,2 2 0,-29 96 0,44-113 0,2 1 0,1 0 0,2 0 0,1 0 0,3 48 0,1-67-119,0-10 15,0 1 0,0-1 0,1 0 1,0 0-1,0 0 0,1 0 0,1 0 0,-1 0 0,1 0 1,1-1-1,4 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11.5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2069 27 24575,'-45'0'0,"-361"-14"0,-97 2 0,311 14 0,-731-2 0,1772 0-1365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13.7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478 2 24575,'-138'-2'0,"-148"5"0,232 6-1365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15.1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18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1695 590 24575,'73'1'0,"84"-3"0,-138-2 0,-24-3 0,-34-2 0,-6 2 0,-82-23 0,91 19 0,-1 3 0,1 0 0,-72-4 0,-929 13 0,1395-1 0,-334 2 0,-1 0 0,0 2 0,39 11 0,35 5 0,32-14 0,-413-4 0,-122-6 0,347-4 0,59 8 0,0 0 0,0 0 0,0 0 0,0 0 0,0 0 0,0-1 0,0 1 0,0 0 0,0 0 0,0 0 0,1 0 0,-1 0 0,0 0 0,0 0 0,0 0 0,0 0 0,0 0 0,0 0 0,0 0 0,0 0 0,0 0 0,0-1 0,0 1 0,0 0 0,0 0 0,0 0 0,0 0 0,0 0 0,0 0 0,0 0 0,0 0 0,0 0 0,0 0 0,0-1 0,0 1 0,0 0 0,0 0 0,0 0 0,0 0 0,0 0 0,0 0 0,0 0 0,0 0 0,0 0 0,0 0 0,0 0 0,-1 0 0,1-1 0,0 1 0,0 0 0,0 0 0,0 0 0,0 0 0,0 0 0,0 0 0,0 0 0,0 0 0,0 0 0,0 0 0,0 0 0,-1 0 0,15-4 0,15 0 0,189 2 0,1 0 0,-201-3 0,-28-3 0,-26-6 0,-34 0 0,50 11 0,1 0 0,-1-2 0,1 0 0,0-2 0,0 0 0,-24-12 0,8 1 0,-1 2 0,0 2 0,-1 1 0,-46-9 0,43 12 0,1-2 0,-1-2 0,-44-21 0,84 35 0,-1 0 0,1-1 0,-1 1 0,1 0 0,-1 0 0,1 0 0,-1 0 0,1-1 0,0 1 0,-1 0 0,1-1 0,-1 1 0,1 0 0,0 0 0,-1-1 0,1 1 0,0-1 0,-1 1 0,1 0 0,0-1 0,-1 1 0,1-1 0,0 1 0,0-1 0,0 1 0,-1-1 0,1 1 0,0-1 0,0 1 0,0-1 0,0 1 0,0-1 0,15-6 0,27 4 0,574 4 0,-164 2 0,-810-24 0,280 14 0,-203-12 0,-258-27 0,518 43 0,10 2 0,0 0 0,1-1 0,-1 0 0,-17-7 0,39 4 0,16 1 0,609-36 0,-441 25 0,491-48 0,-669 60 0,-24 2 0,-34 0 0,38 1 0,-405 3 0,-385-3 0,893-8 72,-44 2-1509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22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1587 43 24575,'40'1'0,"-22"0"0,1-1 0,28-3 0,-97-11 0,-106 3 0,-179 10 0,145 4 0,-596-3 0,664-11 112,51 3-1589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25.9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24575,'294'24'0,"-194"-11"0,104-1 0,660-13-1365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29.4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25 24575,'2513'0'0,"-2491"-1"45,0-1-1,30-7 1,25-3-1544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34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36.8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2616 55 24575,'-55'0'0,"-5"2"0,0-3 0,0-3 0,0-2 0,-79-18 0,96 16 0,0 2 0,-1 1 0,0 3 0,-81 5 0,21 0 0,-1674-3-1365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43.3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 24361,'2683'-24'0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44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47.4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2346 0 24575,'0'15'0,"0"-1"0,-1 1 0,0-1 0,-5 18 0,4-26 0,0 0 0,-1 0 0,1 0 0,-1 0 0,-1 0 0,1-1 0,-1 0 0,0 1 0,0-1 0,-1-1 0,-8 9 0,-3-1 0,0 0 0,0-1 0,-2 0 0,1-2 0,-1 0 0,0-1 0,-35 10 0,-12-1 0,-66 8 0,83-17 0,-18-1 0,-2-2 0,1-3 0,-86-9 0,41-4 0,-68-2 0,-996 14 0,1171-1-151,0 0-1,0 0 0,1-1 0,-1 1 1,0-1-1,0 0 0,1 0 1,-9-4-1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48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53.9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502 0 24575,'114'2'0,"1"4"0,137 25 0,-203-24 0,1-3 0,58-3 0,10 1 0,1083 18 0,-920-21 0,-277 1 0,0 0 0,0 0 0,0 0 0,-1 0 0,1 1 0,0 0 0,0 0 0,-1 0 0,1 0 0,0 0 0,-1 1 0,1-1 0,-1 1 0,0 0 0,0 0 0,5 4 0,-5-3 0,-1 1 0,1 0 0,-1-1 0,0 1 0,0 0 0,0 0 0,-1 0 0,1 0 0,-1 1 0,0-1 0,-1 0 0,1 0 0,0 1 0,-1 6 0,1-7 0,-1 1 0,1-1 0,-1 1 0,0-1 0,0 1 0,-1-1 0,1 0 0,-1 1 0,0-1 0,0 1 0,0-1 0,-1 0 0,1 0 0,-1 0 0,0 0 0,0 0 0,-1 0 0,1 0 0,-1-1 0,0 1 0,0-1 0,0 0 0,0 0 0,-1 0 0,1 0 0,-1-1 0,1 1 0,-1-1 0,0 0 0,0 0 0,0 0 0,-1 0 0,1-1 0,0 0 0,0 0 0,-1 0 0,-4 0 0,-29 5 0,-1-2 0,0-2 0,0-1 0,-43-6 0,-18 2 0,-64 5 0,-159-5 0,229-8 0,47 5 0,-57-1 0,43 4 0,-103-18 0,100 11 0,-89-4 0,138 14 0,-11 0 0,0-1 0,0-1 0,0-1 0,-39-9 0,-6-5 0,-1 4 0,-110-6 0,158 17 0,-552-25 0,540 29-107,22-1 165,-1 0 0,1-1 0,-20-3 0,31 3-120,1 0 0,-1-1 0,0 0 0,1 1 0,-1-1 0,1 0 0,-1 0 0,1 0-1,-1-1 1,1 1 0,0-1 0,0 1 0,-1-1 0,1 0 0,0 1 0,1-1 0,-1 0 0,0-1-1,0 1 1,1 0 0,-1 0 0,1-1 0,-1-2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7:59.9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 24120,'2540'-24'0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08:58:05.5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63 24575,'2063'0'0,"-1996"-2"0,115-19 0,-99-2 113,-34 7-1591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52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0.png"/><Relationship Id="rId4" Type="http://schemas.openxmlformats.org/officeDocument/2006/relationships/customXml" Target="../ink/ink7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4.png"/><Relationship Id="rId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16.png"/><Relationship Id="rId4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9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4.xml"/><Relationship Id="rId18" Type="http://schemas.openxmlformats.org/officeDocument/2006/relationships/image" Target="../media/image30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12" Type="http://schemas.openxmlformats.org/officeDocument/2006/relationships/image" Target="../media/image28.png"/><Relationship Id="rId17" Type="http://schemas.openxmlformats.org/officeDocument/2006/relationships/customXml" Target="../ink/ink26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10" Type="http://schemas.openxmlformats.org/officeDocument/2006/relationships/image" Target="../media/image27.png"/><Relationship Id="rId19" Type="http://schemas.openxmlformats.org/officeDocument/2006/relationships/customXml" Target="../ink/ink27.xml"/><Relationship Id="rId4" Type="http://schemas.openxmlformats.org/officeDocument/2006/relationships/image" Target="../media/image24.png"/><Relationship Id="rId9" Type="http://schemas.openxmlformats.org/officeDocument/2006/relationships/customXml" Target="../ink/ink22.xml"/><Relationship Id="rId1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9.xml"/><Relationship Id="rId10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customXml" Target="../ink/ink3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8.png"/><Relationship Id="rId5" Type="http://schemas.openxmlformats.org/officeDocument/2006/relationships/customXml" Target="../ink/ink33.xml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customXml" Target="../ink/ink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38.xml"/><Relationship Id="rId4" Type="http://schemas.openxmlformats.org/officeDocument/2006/relationships/image" Target="../media/image3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434975"/>
            <a:ext cx="335271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MACHINE LEARNING WALKTHROUGH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792" y="6236910"/>
            <a:ext cx="335271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End-to-end project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09" y="0"/>
            <a:ext cx="8534187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093" y="584200"/>
            <a:ext cx="7238819" cy="4772819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7" name="Text 4"/>
          <p:cNvSpPr/>
          <p:nvPr/>
        </p:nvSpPr>
        <p:spPr>
          <a:xfrm>
            <a:off x="4622684" y="892175"/>
            <a:ext cx="68832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TELECOM ANALYTICS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22684" y="1209791"/>
            <a:ext cx="6527637" cy="347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80" dirty="0">
                <a:solidFill>
                  <a:srgbClr val="0B1F3A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Telecom Customer Churn Prediction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622684" y="4803362"/>
            <a:ext cx="688322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From messy data to a deployed prediction form.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87375"/>
            <a:ext cx="622284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OBJECTIVE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783" y="842944"/>
            <a:ext cx="5689458" cy="1130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200" b="1" kern="100" spc="-63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Predict churn early enough to act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783" y="2195513"/>
            <a:ext cx="1422265" cy="38100"/>
          </a:xfrm>
          <a:prstGeom prst="roundRect">
            <a:avLst>
              <a:gd name="adj" fmla="val 49999"/>
            </a:avLst>
          </a:prstGeom>
          <a:solidFill>
            <a:srgbClr val="FF6B5E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459418"/>
            <a:ext cx="622284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Identify customers likely to leave before revenue is lost.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783" y="6135310"/>
            <a:ext cx="6222844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Source file · telecom_churn_raw.csv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Shape 6"/>
          <p:cNvSpPr/>
          <p:nvPr/>
        </p:nvSpPr>
        <p:spPr>
          <a:xfrm>
            <a:off x="7340416" y="482600"/>
            <a:ext cx="4419489" cy="2794000"/>
          </a:xfrm>
          <a:prstGeom prst="roundRect">
            <a:avLst>
              <a:gd name="adj" fmla="val 4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19809" y="765175"/>
            <a:ext cx="41400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19809" y="1063111"/>
            <a:ext cx="3860703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200" kern="100" spc="-13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1,300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619809" y="1833384"/>
            <a:ext cx="414009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Customer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40416" y="3581400"/>
            <a:ext cx="4419489" cy="2794000"/>
          </a:xfrm>
          <a:prstGeom prst="roundRect">
            <a:avLst>
              <a:gd name="adj" fmla="val 40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19809" y="3863975"/>
            <a:ext cx="41400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19809" y="4161911"/>
            <a:ext cx="3860703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200" kern="100" spc="-13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23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619809" y="4932184"/>
            <a:ext cx="414009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Details, services, billing, support, churn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DATA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104872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The raw file hid problems in almost every column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292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Sixteen columns contained missingness, duplicates, inconsistent labels, or implausible values.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81274"/>
          <a:ext cx="11048724" cy="2859016"/>
        </p:xfrm>
        <a:graphic>
          <a:graphicData uri="http://schemas.openxmlformats.org/drawingml/2006/table">
            <a:tbl>
              <a:tblPr/>
              <a:tblGrid>
                <a:gridCol w="246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Issue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Representative examples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Why it matters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0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Missingness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-- · Not Available · ? · blanks · NaN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One meaning, many spellings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Identity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35 exact duplicates · repeated customer_id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Inflated evidence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Validity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Text numbers · impossible dates · extremes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Broken features and leakage risk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699DD768-F41E-8D48-4540-D85FB0CA5E94}"/>
              </a:ext>
            </a:extLst>
          </p:cNvPr>
          <p:cNvGrpSpPr/>
          <p:nvPr/>
        </p:nvGrpSpPr>
        <p:grpSpPr>
          <a:xfrm>
            <a:off x="11126343" y="6563737"/>
            <a:ext cx="881640" cy="156600"/>
            <a:chOff x="11126343" y="6563737"/>
            <a:chExt cx="88164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F030887-F904-CA9B-B85A-B5A2D6F9E7B4}"/>
                    </a:ext>
                  </a:extLst>
                </p14:cNvPr>
                <p14:cNvContentPartPr/>
                <p14:nvPr/>
              </p14:nvContentPartPr>
              <p14:xfrm>
                <a:off x="11126343" y="6563737"/>
                <a:ext cx="869400" cy="156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F030887-F904-CA9B-B85A-B5A2D6F9E7B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108343" y="6545737"/>
                  <a:ext cx="905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4E533A-1454-DB91-E052-79B7E160AFC2}"/>
                    </a:ext>
                  </a:extLst>
                </p14:cNvPr>
                <p14:cNvContentPartPr/>
                <p14:nvPr/>
              </p14:nvContentPartPr>
              <p14:xfrm>
                <a:off x="12007623" y="6568417"/>
                <a:ext cx="360" cy="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4E533A-1454-DB91-E052-79B7E160AF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89983" y="6550417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CEBA6DD-C3F6-93A2-F9CB-2E4DAC174C59}"/>
                  </a:ext>
                </a:extLst>
              </p14:cNvPr>
              <p14:cNvContentPartPr/>
              <p14:nvPr/>
            </p14:nvContentPartPr>
            <p14:xfrm>
              <a:off x="10987383" y="6598657"/>
              <a:ext cx="1064160" cy="105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CEBA6DD-C3F6-93A2-F9CB-2E4DAC174C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24383" y="6535657"/>
                <a:ext cx="1189800" cy="23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CLEANING 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1023324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Six decisions turned messy records into model-ready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783358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032298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170708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558439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Hidden missing values → NaN.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73643" y="1783358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3643" y="2032298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273643" y="2170708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Normalize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73643" y="2558439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Strip text, lowercase, merge variants.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323969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3488630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3627041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Convert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585" y="4014772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Numeric text and dates become usable types.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3643" y="323969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3643" y="3488630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73643" y="3627041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Deduplicate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3643" y="4014772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1,300 → 1,251 rows.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469632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585" y="4945261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5083671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Screen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585" y="5471402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Negative and above-Q3 + 3×IQR values → NaN.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3643" y="469632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73643" y="4945261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73643" y="5083671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Impute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3643" y="5471402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Median numeric, mode categories, drop missing churn.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585" y="6025852"/>
            <a:ext cx="11023324" cy="45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12780" y="6160710"/>
            <a:ext cx="1082012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1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Output</a:t>
            </a: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· telecom_churn_clean.csv · 1,239 rows · raw file untouched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77C5F94-E4D7-0E87-ECB3-E7E149B19F06}"/>
                  </a:ext>
                </a:extLst>
              </p14:cNvPr>
              <p14:cNvContentPartPr/>
              <p14:nvPr/>
            </p14:nvContentPartPr>
            <p14:xfrm>
              <a:off x="11075943" y="6616297"/>
              <a:ext cx="940320" cy="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77C5F94-E4D7-0E87-ECB3-E7E149B19F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13303" y="6490297"/>
                <a:ext cx="10659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CC83E10-BD3F-2BC5-48C4-84829DC37767}"/>
                  </a:ext>
                </a:extLst>
              </p14:cNvPr>
              <p14:cNvContentPartPr/>
              <p14:nvPr/>
            </p14:nvContentPartPr>
            <p14:xfrm>
              <a:off x="11084943" y="6608377"/>
              <a:ext cx="1019520" cy="96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CC83E10-BD3F-2BC5-48C4-84829DC377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1943" y="6545377"/>
                <a:ext cx="11451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98F402-0EDC-F531-608A-9436803777AC}"/>
                  </a:ext>
                </a:extLst>
              </p14:cNvPr>
              <p14:cNvContentPartPr/>
              <p14:nvPr/>
            </p14:nvContentPartPr>
            <p14:xfrm>
              <a:off x="12102663" y="6469777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98F402-0EDC-F531-608A-9436803777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40023" y="6406777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561975"/>
            <a:ext cx="424169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TARGET BALANCE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84" y="900666"/>
            <a:ext cx="3835304" cy="1061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800" kern="100" spc="-220" dirty="0">
                <a:solidFill>
                  <a:srgbClr val="0B1F3A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33%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34984" y="2055019"/>
            <a:ext cx="383530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churned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84" y="2533237"/>
            <a:ext cx="424169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in three customers left.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84" y="2967752"/>
            <a:ext cx="383530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Accuracy alone is not enough when the minority class matters.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8467" y="398653"/>
            <a:ext cx="6349841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One in three customers churned</a:t>
            </a:r>
            <a:endParaRPr lang="en-US" sz="3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67" y="2184896"/>
            <a:ext cx="6349841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AAA4F53-7F1D-0F20-118B-F4598176555E}"/>
                  </a:ext>
                </a:extLst>
              </p14:cNvPr>
              <p14:cNvContentPartPr/>
              <p14:nvPr/>
            </p14:nvContentPartPr>
            <p14:xfrm>
              <a:off x="10420383" y="6446017"/>
              <a:ext cx="120600" cy="119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AAA4F53-7F1D-0F20-118B-F459817655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57743" y="6383017"/>
                <a:ext cx="2462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E6FA22-BFE0-C7F8-EA4F-4FCEBFC61BB1}"/>
                  </a:ext>
                </a:extLst>
              </p14:cNvPr>
              <p14:cNvContentPartPr/>
              <p14:nvPr/>
            </p14:nvContentPartPr>
            <p14:xfrm>
              <a:off x="11240103" y="6668137"/>
              <a:ext cx="828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E6FA22-BFE0-C7F8-EA4F-4FCEBFC61B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77103" y="6636637"/>
                <a:ext cx="954000" cy="63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E5D4E8-8504-E08B-0326-49F26DB8AEA9}"/>
                  </a:ext>
                </a:extLst>
              </p14:cNvPr>
              <p14:cNvContentPartPr/>
              <p14:nvPr/>
            </p14:nvContentPartPr>
            <p14:xfrm>
              <a:off x="11178183" y="6596497"/>
              <a:ext cx="882000" cy="169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E5D4E8-8504-E08B-0326-49F26DB8AE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15543" y="6533857"/>
                <a:ext cx="1007640" cy="29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CONTRACT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099792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Month-to-month contracts carry the most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292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Longer commitments align with much lower churn.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55874"/>
            <a:ext cx="10667733" cy="368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526107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50%</a:t>
            </a: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churned on month-to-month contracts versus </a:t>
            </a:r>
            <a:r>
              <a:rPr lang="en-US" sz="1150" b="1" kern="10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about 6%</a:t>
            </a: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on two-year contracts.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74AEDC-152F-124C-8977-2F49D8E4F9F0}"/>
                  </a:ext>
                </a:extLst>
              </p14:cNvPr>
              <p14:cNvContentPartPr/>
              <p14:nvPr/>
            </p14:nvContentPartPr>
            <p14:xfrm>
              <a:off x="11145063" y="6650857"/>
              <a:ext cx="8730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74AEDC-152F-124C-8977-2F49D8E4F9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82423" y="6587857"/>
                <a:ext cx="9986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FE6793-9B70-6BF1-6036-251B79EB6BE3}"/>
                  </a:ext>
                </a:extLst>
              </p14:cNvPr>
              <p14:cNvContentPartPr/>
              <p14:nvPr/>
            </p14:nvContentPartPr>
            <p14:xfrm>
              <a:off x="11144343" y="6650857"/>
              <a:ext cx="908280" cy="80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FE6793-9B70-6BF1-6036-251B79EB6B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81343" y="6587857"/>
                <a:ext cx="1033920" cy="20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4984" y="561975"/>
            <a:ext cx="38353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84" y="879591"/>
            <a:ext cx="340351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34984" y="1867182"/>
            <a:ext cx="34035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84" y="3091276"/>
            <a:ext cx="340351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34984" y="4078867"/>
            <a:ext cx="34035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8747" y="1320005"/>
            <a:ext cx="713722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WHAT THE COMPARISON SAYS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8747" y="1573799"/>
            <a:ext cx="652763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Churned customers had shorter tenure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8747" y="2671944"/>
            <a:ext cx="713722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Newer customers are the visible risk segment.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2741" y="3335058"/>
            <a:ext cx="285742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CHURNED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62741" y="3763943"/>
            <a:ext cx="2603435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200" kern="100" spc="-130" dirty="0">
                <a:solidFill>
                  <a:srgbClr val="C9342B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19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862741" y="4534216"/>
            <a:ext cx="285742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months median tenure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78956" y="3335058"/>
            <a:ext cx="285742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OTHERS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78956" y="3763943"/>
            <a:ext cx="2603435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200" kern="100" spc="-130" dirty="0">
                <a:solidFill>
                  <a:srgbClr val="0B1F3A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26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78956" y="4534216"/>
            <a:ext cx="285742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months median tenure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8747" y="5137764"/>
            <a:ext cx="7137221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seven-month gap makes early-tenure intervention worth testing.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BD67F49-64C7-F1F5-EE3F-17C313AC57B6}"/>
                  </a:ext>
                </a:extLst>
              </p14:cNvPr>
              <p14:cNvContentPartPr/>
              <p14:nvPr/>
            </p14:nvContentPartPr>
            <p14:xfrm>
              <a:off x="11067663" y="6633577"/>
              <a:ext cx="100080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BD67F49-64C7-F1F5-EE3F-17C313AC57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4663" y="6570577"/>
                <a:ext cx="11264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5B2B887-5453-EEAB-105B-2B8F0D17971A}"/>
                  </a:ext>
                </a:extLst>
              </p14:cNvPr>
              <p14:cNvContentPartPr/>
              <p14:nvPr/>
            </p14:nvContentPartPr>
            <p14:xfrm>
              <a:off x="11160183" y="6633577"/>
              <a:ext cx="891360" cy="81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5B2B887-5453-EEAB-105B-2B8F0D1797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7543" y="6570577"/>
                <a:ext cx="1017000" cy="20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SERVICE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099792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Fiber optic customers churned most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292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highest-risk internet-service segment in this dataset.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55874"/>
            <a:ext cx="10667733" cy="368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526107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About 41%</a:t>
            </a: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churned with fiber optic service versus </a:t>
            </a:r>
            <a:r>
              <a:rPr lang="en-US" sz="1150" b="1" kern="10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about 18%</a:t>
            </a: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with no internet service.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1FBD0E-3121-2A8F-6813-B31AB8415AF4}"/>
                  </a:ext>
                </a:extLst>
              </p14:cNvPr>
              <p14:cNvContentPartPr/>
              <p14:nvPr/>
            </p14:nvContentPartPr>
            <p14:xfrm>
              <a:off x="11093223" y="6607657"/>
              <a:ext cx="93276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1FBD0E-3121-2A8F-6813-B31AB8415A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30223" y="6481657"/>
                <a:ext cx="1058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764B84E-A862-DDD2-C350-12BB733D68AF}"/>
                  </a:ext>
                </a:extLst>
              </p14:cNvPr>
              <p14:cNvContentPartPr/>
              <p14:nvPr/>
            </p14:nvContentPartPr>
            <p14:xfrm>
              <a:off x="11127423" y="6633577"/>
              <a:ext cx="898200" cy="114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764B84E-A862-DDD2-C350-12BB733D68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64783" y="6570577"/>
                <a:ext cx="1023840" cy="23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561975"/>
            <a:ext cx="444488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BILLING SIGNAL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84" y="815769"/>
            <a:ext cx="4038499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Higher monthly charges aligned with higher churn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34984" y="2371610"/>
            <a:ext cx="403849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Average monthly charges were about 80 for churned customers versus about 70 for others.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11662" y="561975"/>
            <a:ext cx="665463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AVERAGE MONTHLY CHARGES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11662" y="896541"/>
            <a:ext cx="2870128" cy="2247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816454" y="1209199"/>
            <a:ext cx="256533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CHURNED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16454" y="1657764"/>
            <a:ext cx="2260543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80" dirty="0">
                <a:solidFill>
                  <a:srgbClr val="D94135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80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816454" y="2649657"/>
            <a:ext cx="256533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average monthly charge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583" y="896541"/>
            <a:ext cx="2870128" cy="2247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91375" y="1209199"/>
            <a:ext cx="256533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OTHERS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91375" y="1657764"/>
            <a:ext cx="2260543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80" dirty="0">
                <a:solidFill>
                  <a:srgbClr val="0B1F3A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70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991375" y="2649657"/>
            <a:ext cx="256533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average monthly charge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4857" y="3456404"/>
            <a:ext cx="5841854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F3FC7DB-C890-D857-D186-F647C40DE2BF}"/>
                  </a:ext>
                </a:extLst>
              </p14:cNvPr>
              <p14:cNvContentPartPr/>
              <p14:nvPr/>
            </p14:nvContentPartPr>
            <p14:xfrm>
              <a:off x="11145063" y="6616297"/>
              <a:ext cx="880200" cy="9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F3FC7DB-C890-D857-D186-F647C40DE2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82063" y="6553297"/>
                <a:ext cx="100584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989749C-1CA9-4B56-3A5E-62CB16633999}"/>
              </a:ext>
            </a:extLst>
          </p:cNvPr>
          <p:cNvGrpSpPr/>
          <p:nvPr/>
        </p:nvGrpSpPr>
        <p:grpSpPr>
          <a:xfrm>
            <a:off x="10924383" y="6616297"/>
            <a:ext cx="1135440" cy="112320"/>
            <a:chOff x="10924383" y="6616297"/>
            <a:chExt cx="113544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D16E7E-2407-366E-F619-7D3615742518}"/>
                    </a:ext>
                  </a:extLst>
                </p14:cNvPr>
                <p14:cNvContentPartPr/>
                <p14:nvPr/>
              </p14:nvContentPartPr>
              <p14:xfrm>
                <a:off x="12059463" y="6616297"/>
                <a:ext cx="360" cy="95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D16E7E-2407-366E-F619-7D36157425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96823" y="6553297"/>
                  <a:ext cx="126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A1C2E9-99BC-07BE-0362-694DB96CC47D}"/>
                    </a:ext>
                  </a:extLst>
                </p14:cNvPr>
                <p14:cNvContentPartPr/>
                <p14:nvPr/>
              </p14:nvContentPartPr>
              <p14:xfrm>
                <a:off x="10924383" y="6728257"/>
                <a:ext cx="113544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A1C2E9-99BC-07BE-0362-694DB96CC4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61743" y="6665617"/>
                  <a:ext cx="126108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102332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Feature engineering kept the pipeline honest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292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model only sees transformations learned from training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7558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004814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143224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Derived spend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2530955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avg_spend_per_month = total_charges / (tenure + 1)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3643" y="17558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3643" y="2004814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273643" y="2143224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New customer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73643" y="2530955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new_customer = 1 when tenure is 12 months or less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3306068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3555008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3693418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4081149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One-hot encoding fitted inside the pipeline.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3643" y="3306068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3643" y="3555008"/>
            <a:ext cx="5359266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73643" y="3693418"/>
            <a:ext cx="53592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Standardize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3643" y="4081149"/>
            <a:ext cx="535926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Numeric scaling fitted inside the pipeline.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4856460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9585" y="5105400"/>
            <a:ext cx="11023225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09585" y="5243810"/>
            <a:ext cx="1102332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Split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5631541"/>
            <a:ext cx="110233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80/20 stratified train-test split.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585" y="6287710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Why it matters:</a:t>
            </a: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preprocessing stays inside the pipeline, and the churn ratio is preserved.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C4E9C24-E359-B2C1-5523-B4485B22E349}"/>
                  </a:ext>
                </a:extLst>
              </p14:cNvPr>
              <p14:cNvContentPartPr/>
              <p14:nvPr/>
            </p14:nvContentPartPr>
            <p14:xfrm>
              <a:off x="10955343" y="6590377"/>
              <a:ext cx="115668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C4E9C24-E359-B2C1-5523-B4485B22E3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92343" y="6464377"/>
                <a:ext cx="128232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F195601-C3E9-4A87-3E07-14953DB91341}"/>
              </a:ext>
            </a:extLst>
          </p:cNvPr>
          <p:cNvGrpSpPr/>
          <p:nvPr/>
        </p:nvGrpSpPr>
        <p:grpSpPr>
          <a:xfrm>
            <a:off x="10951023" y="6263110"/>
            <a:ext cx="1110240" cy="517320"/>
            <a:chOff x="10951023" y="6263110"/>
            <a:chExt cx="111024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6621855-A118-F455-8B59-30725680FFBD}"/>
                    </a:ext>
                  </a:extLst>
                </p14:cNvPr>
                <p14:cNvContentPartPr/>
                <p14:nvPr/>
              </p14:nvContentPartPr>
              <p14:xfrm>
                <a:off x="11955423" y="6564457"/>
                <a:ext cx="105840" cy="162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6621855-A118-F455-8B59-30725680FFB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892783" y="6501817"/>
                  <a:ext cx="2314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97BA9D6-DACD-0B5F-E06A-693F53B2CB7C}"/>
                    </a:ext>
                  </a:extLst>
                </p14:cNvPr>
                <p14:cNvContentPartPr/>
                <p14:nvPr/>
              </p14:nvContentPartPr>
              <p14:xfrm>
                <a:off x="10951023" y="6650497"/>
                <a:ext cx="1082880" cy="79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97BA9D6-DACD-0B5F-E06A-693F53B2CB7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88383" y="6587497"/>
                  <a:ext cx="1208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D3D05F-F8CD-D4E9-731D-0C953CBA5C4C}"/>
                    </a:ext>
                  </a:extLst>
                </p14:cNvPr>
                <p14:cNvContentPartPr/>
                <p14:nvPr/>
              </p14:nvContentPartPr>
              <p14:xfrm>
                <a:off x="11309583" y="6263110"/>
                <a:ext cx="155520" cy="430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D3D05F-F8CD-D4E9-731D-0C953CBA5C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46583" y="6200110"/>
                  <a:ext cx="2811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171918E-04C3-F670-947B-B71887356284}"/>
                    </a:ext>
                  </a:extLst>
                </p14:cNvPr>
                <p14:cNvContentPartPr/>
                <p14:nvPr/>
              </p14:nvContentPartPr>
              <p14:xfrm>
                <a:off x="11159463" y="6684310"/>
                <a:ext cx="745200" cy="1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171918E-04C3-F670-947B-B718873562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96463" y="6621670"/>
                  <a:ext cx="87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C43B5E-E200-8C0C-21D6-6213A2B02F91}"/>
                    </a:ext>
                  </a:extLst>
                </p14:cNvPr>
                <p14:cNvContentPartPr/>
                <p14:nvPr/>
              </p14:nvContentPartPr>
              <p14:xfrm>
                <a:off x="11568423" y="6667390"/>
                <a:ext cx="172440" cy="4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C43B5E-E200-8C0C-21D6-6213A2B02F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05423" y="6604390"/>
                  <a:ext cx="298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BC2A7D-2503-B3EB-3BD9-BA24BE23DD4A}"/>
                    </a:ext>
                  </a:extLst>
                </p14:cNvPr>
                <p14:cNvContentPartPr/>
                <p14:nvPr/>
              </p14:nvContentPartPr>
              <p14:xfrm>
                <a:off x="11516223" y="678007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BC2A7D-2503-B3EB-3BD9-BA24BE23DD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453223" y="67174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320BB2-C6A6-B829-6A0D-38E6A9A1F8B1}"/>
                    </a:ext>
                  </a:extLst>
                </p14:cNvPr>
                <p14:cNvContentPartPr/>
                <p14:nvPr/>
              </p14:nvContentPartPr>
              <p14:xfrm>
                <a:off x="11121663" y="6507537"/>
                <a:ext cx="700200" cy="21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320BB2-C6A6-B829-6A0D-38E6A9A1F8B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058663" y="6444897"/>
                  <a:ext cx="82584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7D0CE58-B217-7560-CEF3-E85C0540C51D}"/>
                  </a:ext>
                </a:extLst>
              </p14:cNvPr>
              <p14:cNvContentPartPr/>
              <p14:nvPr/>
            </p14:nvContentPartPr>
            <p14:xfrm>
              <a:off x="11039943" y="6739017"/>
              <a:ext cx="615960" cy="1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7D0CE58-B217-7560-CEF3-E85C0540C51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977303" y="6676017"/>
                <a:ext cx="741600" cy="1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49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BASELINE MODELS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88769"/>
            <a:ext cx="1102332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Logistic regression led the baseline on F1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292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simplest baseline produced the strongest balance of precision and recall.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55874"/>
          <a:ext cx="11023325" cy="1997820"/>
        </p:xfrm>
        <a:graphic>
          <a:graphicData uri="http://schemas.openxmlformats.org/drawingml/2006/table">
            <a:tbl>
              <a:tblPr/>
              <a:tblGrid>
                <a:gridCol w="3306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Model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Accuracy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Precision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Recall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Logistic Regression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0.730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0.609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0.481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0.538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Decision Tree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0.673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0.469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0.484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Random Forest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0.587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0.457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0.514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XGBoost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0.596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0.493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393940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F1 is the lead metric because the churn class is a meaningful minority, not a rounding error.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6B1305-D99D-BB03-15CA-FA9602EF373D}"/>
                  </a:ext>
                </a:extLst>
              </p14:cNvPr>
              <p14:cNvContentPartPr/>
              <p14:nvPr/>
            </p14:nvContentPartPr>
            <p14:xfrm>
              <a:off x="11015823" y="6512617"/>
              <a:ext cx="526680" cy="1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6B1305-D99D-BB03-15CA-FA9602EF37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52823" y="6449977"/>
                <a:ext cx="6523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168B5D-709D-6139-927A-FCA8398A820B}"/>
                  </a:ext>
                </a:extLst>
              </p14:cNvPr>
              <p14:cNvContentPartPr/>
              <p14:nvPr/>
            </p14:nvContentPartPr>
            <p14:xfrm>
              <a:off x="11101863" y="6650497"/>
              <a:ext cx="967320" cy="9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168B5D-709D-6139-927A-FCA8398A82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39223" y="6587857"/>
                <a:ext cx="10929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42B4360-6AFB-B7AC-029F-622CBCD37AF7}"/>
                  </a:ext>
                </a:extLst>
              </p14:cNvPr>
              <p14:cNvContentPartPr/>
              <p14:nvPr/>
            </p14:nvContentPartPr>
            <p14:xfrm>
              <a:off x="11982063" y="6624937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42B4360-6AFB-B7AC-029F-622CBCD37A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19063" y="65619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65E18C-F06A-B36D-7AFA-6CD1EAA6F16F}"/>
                  </a:ext>
                </a:extLst>
              </p14:cNvPr>
              <p14:cNvContentPartPr/>
              <p14:nvPr/>
            </p14:nvContentPartPr>
            <p14:xfrm>
              <a:off x="11152623" y="6726097"/>
              <a:ext cx="941760" cy="20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65E18C-F06A-B36D-7AFA-6CD1EAA6F16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89983" y="6663457"/>
                <a:ext cx="1067400" cy="14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03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HYPERPARAMETER TUNING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714169"/>
            <a:ext cx="1104872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Tuning improved precision, but not the overall winner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35461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" sz="1400" dirty="0"/>
              <a:t>We tried 5 different settings for Random Forest and XGBoost, tested each one 3 times, and kept the settings with the best F1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781274"/>
            <a:ext cx="5371966" cy="467032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089249"/>
            <a:ext cx="506717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TUNED RANDOM FOREST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377" y="2342852"/>
            <a:ext cx="476238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Confusion matrix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377" y="3206373"/>
            <a:ext cx="230499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1766" y="3206373"/>
            <a:ext cx="230499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6343" y="1781274"/>
            <a:ext cx="5371966" cy="467032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91135" y="2089249"/>
            <a:ext cx="506717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TUNED XGBOOST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91135" y="2342852"/>
            <a:ext cx="476238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Confusion matrix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91135" y="3206373"/>
            <a:ext cx="230499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48524" y="3206373"/>
            <a:ext cx="230499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84817B0-F681-9F01-EB19-22BD05B3C670}"/>
                  </a:ext>
                </a:extLst>
              </p14:cNvPr>
              <p14:cNvContentPartPr/>
              <p14:nvPr/>
            </p14:nvContentPartPr>
            <p14:xfrm>
              <a:off x="11050383" y="6642217"/>
              <a:ext cx="966240" cy="9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84817B0-F681-9F01-EB19-22BD05B3C6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87383" y="6579217"/>
                <a:ext cx="109188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CE86842-B646-5342-23B2-1345656DA07A}"/>
              </a:ext>
            </a:extLst>
          </p:cNvPr>
          <p:cNvGrpSpPr/>
          <p:nvPr/>
        </p:nvGrpSpPr>
        <p:grpSpPr>
          <a:xfrm>
            <a:off x="11146143" y="6642217"/>
            <a:ext cx="905040" cy="129560"/>
            <a:chOff x="11146143" y="6642217"/>
            <a:chExt cx="905040" cy="12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385D8F-B3AE-28F1-3033-06130FB799FB}"/>
                    </a:ext>
                  </a:extLst>
                </p14:cNvPr>
                <p14:cNvContentPartPr/>
                <p14:nvPr/>
              </p14:nvContentPartPr>
              <p14:xfrm>
                <a:off x="12042183" y="6685417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385D8F-B3AE-28F1-3033-06130FB799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79543" y="66224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75708E-79BA-CCFE-3F58-64A9A18905CB}"/>
                    </a:ext>
                  </a:extLst>
                </p14:cNvPr>
                <p14:cNvContentPartPr/>
                <p14:nvPr/>
              </p14:nvContentPartPr>
              <p14:xfrm>
                <a:off x="11146143" y="6642217"/>
                <a:ext cx="844920" cy="11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75708E-79BA-CCFE-3F58-64A9A18905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83143" y="6579217"/>
                  <a:ext cx="970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17652C5-3A5C-3890-2AC0-324D1E9CACD0}"/>
                    </a:ext>
                  </a:extLst>
                </p14:cNvPr>
                <p14:cNvContentPartPr/>
                <p14:nvPr/>
              </p14:nvContentPartPr>
              <p14:xfrm>
                <a:off x="12050823" y="6771417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17652C5-3A5C-3890-2AC0-324D1E9CACD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88183" y="670877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3040CD2D-96C1-A543-0792-D1973F2A8D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2069" y="2751249"/>
            <a:ext cx="4074599" cy="36592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F094FE-CE62-CD92-0037-0FD5F604F9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7230" y="2751249"/>
            <a:ext cx="4187924" cy="3657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61975"/>
            <a:ext cx="347971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MODEL SELECTION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84185" y="817544"/>
            <a:ext cx="3098722" cy="339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200" b="1" kern="100" spc="-63" dirty="0">
                <a:solidFill>
                  <a:srgbClr val="000000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The Logistic Regression became the chosen final model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84185" y="4691856"/>
            <a:ext cx="3098722" cy="501948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4852114"/>
            <a:ext cx="289552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FINAL MODEL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27680"/>
              </p:ext>
            </p:extLst>
          </p:nvPr>
        </p:nvGraphicFramePr>
        <p:xfrm>
          <a:off x="4495688" y="431800"/>
          <a:ext cx="7162621" cy="2799488"/>
        </p:xfrm>
        <a:graphic>
          <a:graphicData uri="http://schemas.openxmlformats.org/drawingml/2006/table">
            <a:tbl>
              <a:tblPr/>
              <a:tblGrid>
                <a:gridCol w="214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1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Model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Accuracy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Precision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Recall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Logistic Regression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0.730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0.609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0.481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0.538</a:t>
                      </a:r>
                      <a:endParaRPr lang="en-US" sz="140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Random Forest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0.587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0.457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0.514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XGBoost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0.596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0.493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Tuned Random Forest</a:t>
                      </a:r>
                      <a:endParaRPr lang="en-US" sz="1400" b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0.576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0.486</a:t>
                      </a:r>
                      <a:endParaRPr lang="en-US" sz="1400" b="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Decision Tree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0.673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0.500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0.469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0.484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Tuned XGBoost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0.718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0.608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0.383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0.470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86332" y="3409156"/>
            <a:ext cx="8871977" cy="933053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" name="Text 7"/>
          <p:cNvSpPr/>
          <p:nvPr/>
        </p:nvSpPr>
        <p:spPr>
          <a:xfrm>
            <a:off x="2886375" y="3535560"/>
            <a:ext cx="690862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JUSTIFICATION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85057" y="3782925"/>
            <a:ext cx="930168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" sz="1400" b="1" dirty="0"/>
              <a:t>Logistic Regression is the final model.</a:t>
            </a:r>
            <a:r>
              <a:rPr lang="" sz="1400" dirty="0"/>
              <a:t> It scored highest on all four metrics (F1 0.538, recall 0.481), and the tuned models</a:t>
            </a:r>
          </a:p>
          <a:p>
            <a:r>
              <a:rPr lang="" sz="1400" dirty="0"/>
              <a:t>did not beat it. It is also simple and fast, and it gives a clear churn probability for the form.</a:t>
            </a:r>
            <a:endParaRPr lang="" sz="1400" dirty="0"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6E7CC3-D315-DAA0-30E0-4FB9F1841FDE}"/>
                  </a:ext>
                </a:extLst>
              </p14:cNvPr>
              <p14:cNvContentPartPr/>
              <p14:nvPr/>
            </p14:nvContentPartPr>
            <p14:xfrm>
              <a:off x="11007903" y="6650857"/>
              <a:ext cx="1037160" cy="10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6E7CC3-D315-DAA0-30E0-4FB9F1841F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45263" y="6587857"/>
                <a:ext cx="1162800" cy="23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434975"/>
            <a:ext cx="469888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DEPLOYMENT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84185" y="688769"/>
            <a:ext cx="431789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0"/>
              </a:rPr>
              <a:t>Deployment turns a model into an action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4185" y="1783358"/>
            <a:ext cx="4317892" cy="5019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1943616"/>
            <a:ext cx="411469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1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Saved with joblib</a:t>
            </a:r>
            <a:r>
              <a:rPr lang="en-US" sz="1150" kern="10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 · churn_model.pkl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4185" y="2531368"/>
            <a:ext cx="431789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Three takeaways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4185" y="3009586"/>
            <a:ext cx="43178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New, month-to-month, fiber optic customers with high charges are the highest-risk group.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185" y="3971611"/>
            <a:ext cx="431789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Clean data mattered more than complex models.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185" y="4681224"/>
            <a:ext cx="43178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Next action: offer longer contracts or targeted discounts.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4058" y="434975"/>
            <a:ext cx="652763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PREDICTION FORM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13260" y="764844"/>
            <a:ext cx="5994250" cy="495756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4857" y="1132999"/>
            <a:ext cx="58926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19649" y="4985068"/>
            <a:ext cx="528306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4058" y="5904905"/>
            <a:ext cx="5994250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Output · churn prediction plus churn probability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Thank you · GitHub repository: [link]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4185" y="3733105"/>
            <a:ext cx="4317892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17" name="Shape 15"/>
          <p:cNvSpPr/>
          <p:nvPr/>
        </p:nvSpPr>
        <p:spPr>
          <a:xfrm>
            <a:off x="584185" y="4442718"/>
            <a:ext cx="4317892" cy="12700"/>
          </a:xfrm>
          <a:prstGeom prst="rect">
            <a:avLst/>
          </a:prstGeom>
          <a:solidFill>
            <a:srgbClr val="155EEF"/>
          </a:solidFill>
          <a:ln/>
        </p:spPr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803A673-E835-078C-9881-B5B14B2689D7}"/>
                  </a:ext>
                </a:extLst>
              </p14:cNvPr>
              <p14:cNvContentPartPr/>
              <p14:nvPr/>
            </p14:nvContentPartPr>
            <p14:xfrm>
              <a:off x="11127783" y="6659497"/>
              <a:ext cx="914760" cy="9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803A673-E835-078C-9881-B5B14B2689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64783" y="6596497"/>
                <a:ext cx="10404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4A608D-876D-452D-0D13-A2CFE02F86A5}"/>
                  </a:ext>
                </a:extLst>
              </p14:cNvPr>
              <p14:cNvContentPartPr/>
              <p14:nvPr/>
            </p14:nvContentPartPr>
            <p14:xfrm>
              <a:off x="11170983" y="6680017"/>
              <a:ext cx="880200" cy="22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4A608D-876D-452D-0D13-A2CFE02F86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08343" y="6617377"/>
                <a:ext cx="1005840" cy="14832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425DD64F-A3A9-198A-32DC-B743F5AA5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6" y="1231572"/>
            <a:ext cx="5943451" cy="1311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778</Words>
  <Application>Microsoft Office PowerPoint</Application>
  <PresentationFormat>Widescreen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Archivo Black</vt:lpstr>
      <vt:lpstr>Arial</vt:lpstr>
      <vt:lpstr>IBM Plex Sans SemiBold</vt:lpstr>
      <vt:lpstr>Archivo Bold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farhan</dc:creator>
  <cp:lastModifiedBy>Muhammad Farhan Sohail</cp:lastModifiedBy>
  <cp:revision>3</cp:revision>
  <dcterms:created xsi:type="dcterms:W3CDTF">2026-10-25T08:54:08Z</dcterms:created>
  <dcterms:modified xsi:type="dcterms:W3CDTF">2026-10-25T09:53:13Z</dcterms:modified>
</cp:coreProperties>
</file>